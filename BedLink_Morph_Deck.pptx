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293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l Bhardwaj" userId="5018bef82965f02b" providerId="LiveId" clId="{1304E07C-F53F-4316-9D2A-BDD62D492033}"/>
    <pc:docChg chg="modSld">
      <pc:chgData name="Anil Bhardwaj" userId="5018bef82965f02b" providerId="LiveId" clId="{1304E07C-F53F-4316-9D2A-BDD62D492033}" dt="2026-10-03T04:08:15.498" v="86" actId="20577"/>
      <pc:docMkLst>
        <pc:docMk/>
      </pc:docMkLst>
      <pc:sldChg chg="modSp mod">
        <pc:chgData name="Anil Bhardwaj" userId="5018bef82965f02b" providerId="LiveId" clId="{1304E07C-F53F-4316-9D2A-BDD62D492033}" dt="2026-10-02T19:15:26.225" v="15" actId="20577"/>
        <pc:sldMkLst>
          <pc:docMk/>
          <pc:sldMk cId="0" sldId="256"/>
        </pc:sldMkLst>
        <pc:spChg chg="mod">
          <ac:chgData name="Anil Bhardwaj" userId="5018bef82965f02b" providerId="LiveId" clId="{1304E07C-F53F-4316-9D2A-BDD62D492033}" dt="2026-10-02T19:15:26.225" v="15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Anil Bhardwaj" userId="5018bef82965f02b" providerId="LiveId" clId="{1304E07C-F53F-4316-9D2A-BDD62D492033}" dt="2026-10-02T19:15:09.353" v="3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nil Bhardwaj" userId="5018bef82965f02b" providerId="LiveId" clId="{1304E07C-F53F-4316-9D2A-BDD62D492033}" dt="2026-10-02T19:15:15.498" v="7" actId="2057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Anil Bhardwaj" userId="5018bef82965f02b" providerId="LiveId" clId="{1304E07C-F53F-4316-9D2A-BDD62D492033}" dt="2026-10-02T19:15:20.027" v="11" actId="20577"/>
          <ac:spMkLst>
            <pc:docMk/>
            <pc:sldMk cId="0" sldId="256"/>
            <ac:spMk id="19" creationId="{00000000-0000-0000-0000-000000000000}"/>
          </ac:spMkLst>
        </pc:spChg>
      </pc:sldChg>
      <pc:sldChg chg="modSp mod">
        <pc:chgData name="Anil Bhardwaj" userId="5018bef82965f02b" providerId="LiveId" clId="{1304E07C-F53F-4316-9D2A-BDD62D492033}" dt="2026-10-03T04:08:15.498" v="86" actId="20577"/>
        <pc:sldMkLst>
          <pc:docMk/>
          <pc:sldMk cId="0" sldId="259"/>
        </pc:sldMkLst>
        <pc:spChg chg="mod">
          <ac:chgData name="Anil Bhardwaj" userId="5018bef82965f02b" providerId="LiveId" clId="{1304E07C-F53F-4316-9D2A-BDD62D492033}" dt="2026-10-03T04:08:15.498" v="86" actId="20577"/>
          <ac:spMkLst>
            <pc:docMk/>
            <pc:sldMk cId="0" sldId="259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01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an ambulance arrives at a full hospital, the patient loses the minutes that matter most. Today, finding a bed is phone calls and guesswork. BedLink turns that into one live loop: ambulance, hospital and dispatch on one screen, with a confirmed bed before the ambulance commits.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Ambulance sends vitals; the backend triages and ranks hospitals; the hospital and dispatch see it live. Three rules: a hospital never accepts automatically, a human must click. A decline or a two-minute timeout moves it to the next-best hospital. And dispatch sees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features: live vitals with a 0-100 rule-based triage score, a medical operations assistant (keyword lookup, no LLM), a hospital console for beds, supplies, staff and data freshness, a dispatch command center, and a one-click Demo Mode. Operation Match is explainable: resources 40, bed 20, travel 20, data freshness 10, hospital load 10. What makes us different: we rank on operational readiness, not distance alone; a hospital must confirm before arrival, with a 2-minute window and automatic next-best escalation; ambulance, hospital and dispatch share one live state over Server-Sent Events; and the triage is transparent and auditable, pure Python with zero installs. AT ~1:15 ALT-TAB TO THE APP for the live demo (Demo Mode -&gt; hospital clicks ACCEPT/DECLINE).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Fewer re-routes, minutes saved per case, and dispatch finally sees the whole picture. Next: real GPS, hospital system integration, a database, authentication, and clinical validation. BedLink doesn't just show where the beds are. It makes sure someone has said yes before the ambulance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RPH_DARK"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rge"/>
          <p:cNvSpPr/>
          <p:nvPr/>
        </p:nvSpPr>
        <p:spPr>
          <a:xfrm rot="2700000">
            <a:off x="6217920" y="-45720"/>
            <a:ext cx="6949440" cy="6949440"/>
          </a:xfrm>
          <a:prstGeom prst="rect">
            <a:avLst/>
          </a:prstGeom>
          <a:solidFill>
            <a:srgbClr val="15171A"/>
          </a:solidFill>
          <a:ln w="9525">
            <a:solidFill>
              <a:srgbClr val="25282D"/>
            </a:solidFill>
            <a:prstDash val="solid"/>
          </a:ln>
        </p:spPr>
      </p:sp>
      <p:sp>
        <p:nvSpPr>
          <p:cNvPr id="3" name="!!PanelA"/>
          <p:cNvSpPr/>
          <p:nvPr/>
        </p:nvSpPr>
        <p:spPr>
          <a:xfrm>
            <a:off x="6949440" y="-502920"/>
            <a:ext cx="6217920" cy="7863840"/>
          </a:xfrm>
          <a:prstGeom prst="rect">
            <a:avLst/>
          </a:prstGeom>
          <a:solidFill>
            <a:srgbClr val="121417"/>
          </a:solidFill>
          <a:ln w="9525">
            <a:solidFill>
              <a:srgbClr val="22252A"/>
            </a:solidFill>
            <a:prstDash val="solid"/>
          </a:ln>
        </p:spPr>
      </p:sp>
      <p:sp>
        <p:nvSpPr>
          <p:cNvPr id="4" name="!!PanelB"/>
          <p:cNvSpPr/>
          <p:nvPr/>
        </p:nvSpPr>
        <p:spPr>
          <a:xfrm rot="240000">
            <a:off x="-1371600" y="5577840"/>
            <a:ext cx="8229600" cy="2194560"/>
          </a:xfrm>
          <a:prstGeom prst="rect">
            <a:avLst/>
          </a:prstGeom>
          <a:solidFill>
            <a:srgbClr val="1C1F23">
              <a:alpha val="60000"/>
            </a:srgbClr>
          </a:solidFill>
          <a:ln/>
        </p:spPr>
      </p:sp>
      <p:sp>
        <p:nvSpPr>
          <p:cNvPr id="5" name="!!PanelC"/>
          <p:cNvSpPr/>
          <p:nvPr/>
        </p:nvSpPr>
        <p:spPr>
          <a:xfrm>
            <a:off x="5760720" y="502920"/>
            <a:ext cx="7863840" cy="5852160"/>
          </a:xfrm>
          <a:prstGeom prst="rect">
            <a:avLst/>
          </a:prstGeom>
          <a:ln w="9525">
            <a:solidFill>
              <a:srgbClr val="2E3238"/>
            </a:solidFill>
            <a:prstDash val="solid"/>
          </a:ln>
        </p:spPr>
      </p:sp>
      <p:sp>
        <p:nvSpPr>
          <p:cNvPr id="6" name="!!Outline"/>
          <p:cNvSpPr/>
          <p:nvPr/>
        </p:nvSpPr>
        <p:spPr>
          <a:xfrm rot="2700000">
            <a:off x="7589520" y="1325880"/>
            <a:ext cx="4206240" cy="4206240"/>
          </a:xfrm>
          <a:prstGeom prst="rect">
            <a:avLst/>
          </a:prstGeom>
          <a:ln w="9525">
            <a:solidFill>
              <a:srgbClr val="3A3F46"/>
            </a:solidFill>
            <a:prstDash val="solid"/>
          </a:ln>
        </p:spPr>
      </p:sp>
      <p:sp>
        <p:nvSpPr>
          <p:cNvPr id="7" name="!!Mid"/>
          <p:cNvSpPr/>
          <p:nvPr/>
        </p:nvSpPr>
        <p:spPr>
          <a:xfrm rot="2700000">
            <a:off x="8138160" y="1874520"/>
            <a:ext cx="3108960" cy="3108960"/>
          </a:xfrm>
          <a:prstGeom prst="rect">
            <a:avLst/>
          </a:prstGeom>
          <a:solidFill>
            <a:srgbClr val="202328">
              <a:alpha val="80000"/>
            </a:srgbClr>
          </a:solidFill>
          <a:ln/>
        </p:spPr>
      </p:sp>
      <p:sp>
        <p:nvSpPr>
          <p:cNvPr id="8" name="!!Line_1"/>
          <p:cNvSpPr/>
          <p:nvPr/>
        </p:nvSpPr>
        <p:spPr>
          <a:xfrm rot="3600000">
            <a:off x="914400" y="3652114"/>
            <a:ext cx="14630400" cy="10973"/>
          </a:xfrm>
          <a:prstGeom prst="rect">
            <a:avLst/>
          </a:prstGeom>
          <a:solidFill>
            <a:srgbClr val="4A4F57"/>
          </a:solidFill>
          <a:ln/>
        </p:spPr>
      </p:sp>
      <p:sp>
        <p:nvSpPr>
          <p:cNvPr id="9" name="!!Line_2"/>
          <p:cNvSpPr/>
          <p:nvPr/>
        </p:nvSpPr>
        <p:spPr>
          <a:xfrm rot="2700000">
            <a:off x="5577840" y="3423514"/>
            <a:ext cx="8229600" cy="10973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0" name="!!Line_3"/>
          <p:cNvSpPr/>
          <p:nvPr/>
        </p:nvSpPr>
        <p:spPr>
          <a:xfrm rot="8100000">
            <a:off x="5577840" y="3423514"/>
            <a:ext cx="8229600" cy="10973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1" name="!!Node1"/>
          <p:cNvSpPr/>
          <p:nvPr/>
        </p:nvSpPr>
        <p:spPr>
          <a:xfrm rot="2700000">
            <a:off x="9592056" y="35661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2" name="!!Node2"/>
          <p:cNvSpPr/>
          <p:nvPr/>
        </p:nvSpPr>
        <p:spPr>
          <a:xfrm rot="2700000">
            <a:off x="12563856" y="332841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3" name="!!Node3"/>
          <p:cNvSpPr/>
          <p:nvPr/>
        </p:nvSpPr>
        <p:spPr>
          <a:xfrm rot="2700000">
            <a:off x="9592056" y="630021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4" name="!!Node4"/>
          <p:cNvSpPr/>
          <p:nvPr/>
        </p:nvSpPr>
        <p:spPr>
          <a:xfrm rot="2700000">
            <a:off x="6620256" y="332841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5" name="!!Node5"/>
          <p:cNvSpPr/>
          <p:nvPr/>
        </p:nvSpPr>
        <p:spPr>
          <a:xfrm rot="2700000">
            <a:off x="11055096" y="181965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6" name="!!Box4"/>
          <p:cNvSpPr/>
          <p:nvPr/>
        </p:nvSpPr>
        <p:spPr>
          <a:xfrm>
            <a:off x="9761220" y="3497580"/>
            <a:ext cx="960120" cy="96012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!!Box1"/>
          <p:cNvSpPr/>
          <p:nvPr/>
        </p:nvSpPr>
        <p:spPr>
          <a:xfrm>
            <a:off x="8663940" y="2400300"/>
            <a:ext cx="960120" cy="96012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!!Box2"/>
          <p:cNvSpPr/>
          <p:nvPr/>
        </p:nvSpPr>
        <p:spPr>
          <a:xfrm>
            <a:off x="9761220" y="2400300"/>
            <a:ext cx="960120" cy="96012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!!Box3"/>
          <p:cNvSpPr/>
          <p:nvPr/>
        </p:nvSpPr>
        <p:spPr>
          <a:xfrm>
            <a:off x="8663940" y="3497580"/>
            <a:ext cx="960120" cy="96012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!!Conn1"/>
          <p:cNvSpPr txBox="1"/>
          <p:nvPr/>
        </p:nvSpPr>
        <p:spPr>
          <a:xfrm>
            <a:off x="13281660" y="3383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!!Conn2"/>
          <p:cNvSpPr txBox="1"/>
          <p:nvPr/>
        </p:nvSpPr>
        <p:spPr>
          <a:xfrm>
            <a:off x="13281660" y="3383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!!Conn3"/>
          <p:cNvSpPr txBox="1"/>
          <p:nvPr/>
        </p:nvSpPr>
        <p:spPr>
          <a:xfrm>
            <a:off x="13281660" y="3383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23" name="!!Bar1"/>
          <p:cNvSpPr/>
          <p:nvPr/>
        </p:nvSpPr>
        <p:spPr>
          <a:xfrm>
            <a:off x="13533120" y="1572768"/>
            <a:ext cx="2011680" cy="146304"/>
          </a:xfrm>
          <a:prstGeom prst="rect">
            <a:avLst/>
          </a:prstGeom>
          <a:solidFill>
            <a:srgbClr val="19C3AE"/>
          </a:solidFill>
          <a:ln/>
        </p:spPr>
      </p:sp>
      <p:sp>
        <p:nvSpPr>
          <p:cNvPr id="24" name="!!Bar2"/>
          <p:cNvSpPr/>
          <p:nvPr/>
        </p:nvSpPr>
        <p:spPr>
          <a:xfrm>
            <a:off x="13533120" y="2176272"/>
            <a:ext cx="100584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5" name="!!Bar3"/>
          <p:cNvSpPr/>
          <p:nvPr/>
        </p:nvSpPr>
        <p:spPr>
          <a:xfrm>
            <a:off x="13533120" y="2779776"/>
            <a:ext cx="100584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6" name="!!Bar4"/>
          <p:cNvSpPr/>
          <p:nvPr/>
        </p:nvSpPr>
        <p:spPr>
          <a:xfrm>
            <a:off x="13533120" y="3383280"/>
            <a:ext cx="50292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7" name="!!Bar5"/>
          <p:cNvSpPr/>
          <p:nvPr/>
        </p:nvSpPr>
        <p:spPr>
          <a:xfrm>
            <a:off x="13533120" y="3986784"/>
            <a:ext cx="50292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8" name="!!Signal"/>
          <p:cNvSpPr/>
          <p:nvPr/>
        </p:nvSpPr>
        <p:spPr>
          <a:xfrm rot="2700000">
            <a:off x="7397496" y="5202936"/>
            <a:ext cx="384048" cy="384048"/>
          </a:xfrm>
          <a:prstGeom prst="rect">
            <a:avLst/>
          </a:prstGeom>
          <a:solidFill>
            <a:srgbClr val="19C3AE"/>
          </a:solidFill>
          <a:ln/>
        </p:spPr>
      </p:sp>
      <p:sp>
        <p:nvSpPr>
          <p:cNvPr id="29" name="!!Wordmark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BEDLINK</a:t>
            </a:r>
            <a:endParaRPr lang="en-US" sz="1100" dirty="0"/>
          </a:p>
        </p:txBody>
      </p:sp>
      <p:sp>
        <p:nvSpPr>
          <p:cNvPr id="30" name="!!PageNum"/>
          <p:cNvSpPr txBox="1"/>
          <p:nvPr/>
        </p:nvSpPr>
        <p:spPr>
          <a:xfrm>
            <a:off x="9966960" y="365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04</a:t>
            </a:r>
            <a:endParaRPr lang="en-US" sz="1100" dirty="0"/>
          </a:p>
        </p:txBody>
      </p:sp>
      <p:sp>
        <p:nvSpPr>
          <p:cNvPr id="31" name="!!Kicker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2" name="!!Title"/>
          <p:cNvSpPr txBox="1"/>
          <p:nvPr/>
        </p:nvSpPr>
        <p:spPr>
          <a:xfrm>
            <a:off x="731520" y="141732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ambulance arrives at a full hospital, the patient loses the minutes that matter most.</a:t>
            </a:r>
            <a:endParaRPr lang="en-US" sz="3200" dirty="0"/>
          </a:p>
        </p:txBody>
      </p:sp>
      <p:sp>
        <p:nvSpPr>
          <p:cNvPr id="33" name="!!Body"/>
          <p:cNvSpPr txBox="1"/>
          <p:nvPr/>
        </p:nvSpPr>
        <p:spPr>
          <a:xfrm>
            <a:off x="731520" y="3931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finding a bed is phone calls and guesswork.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rge"/>
          <p:cNvSpPr/>
          <p:nvPr/>
        </p:nvSpPr>
        <p:spPr>
          <a:xfrm rot="8100000">
            <a:off x="1984248" y="3566160"/>
            <a:ext cx="8229600" cy="8229600"/>
          </a:xfrm>
          <a:prstGeom prst="rect">
            <a:avLst/>
          </a:prstGeom>
          <a:solidFill>
            <a:srgbClr val="15171A"/>
          </a:solidFill>
          <a:ln w="9525">
            <a:solidFill>
              <a:srgbClr val="25282D"/>
            </a:solidFill>
            <a:prstDash val="solid"/>
          </a:ln>
        </p:spPr>
      </p:sp>
      <p:sp>
        <p:nvSpPr>
          <p:cNvPr id="3" name="!!PanelA"/>
          <p:cNvSpPr/>
          <p:nvPr/>
        </p:nvSpPr>
        <p:spPr>
          <a:xfrm>
            <a:off x="-484632" y="2560320"/>
            <a:ext cx="13167360" cy="2103120"/>
          </a:xfrm>
          <a:prstGeom prst="rect">
            <a:avLst/>
          </a:prstGeom>
          <a:solidFill>
            <a:srgbClr val="121417"/>
          </a:solidFill>
          <a:ln w="9525">
            <a:solidFill>
              <a:srgbClr val="22252A"/>
            </a:solidFill>
            <a:prstDash val="solid"/>
          </a:ln>
        </p:spPr>
      </p:sp>
      <p:sp>
        <p:nvSpPr>
          <p:cNvPr id="4" name="!!PanelB"/>
          <p:cNvSpPr/>
          <p:nvPr/>
        </p:nvSpPr>
        <p:spPr>
          <a:xfrm rot="480000">
            <a:off x="7589520" y="-91440"/>
            <a:ext cx="6400800" cy="1463040"/>
          </a:xfrm>
          <a:prstGeom prst="rect">
            <a:avLst/>
          </a:prstGeom>
          <a:solidFill>
            <a:srgbClr val="1C1F23">
              <a:alpha val="60000"/>
            </a:srgbClr>
          </a:solidFill>
          <a:ln/>
        </p:spPr>
      </p:sp>
      <p:sp>
        <p:nvSpPr>
          <p:cNvPr id="5" name="!!PanelC"/>
          <p:cNvSpPr/>
          <p:nvPr/>
        </p:nvSpPr>
        <p:spPr>
          <a:xfrm>
            <a:off x="-210312" y="2286000"/>
            <a:ext cx="12618720" cy="2651760"/>
          </a:xfrm>
          <a:prstGeom prst="rect">
            <a:avLst/>
          </a:prstGeom>
          <a:ln w="9525">
            <a:solidFill>
              <a:srgbClr val="2E3238"/>
            </a:solidFill>
            <a:prstDash val="solid"/>
          </a:ln>
        </p:spPr>
      </p:sp>
      <p:sp>
        <p:nvSpPr>
          <p:cNvPr id="6" name="!!Outline"/>
          <p:cNvSpPr/>
          <p:nvPr/>
        </p:nvSpPr>
        <p:spPr>
          <a:xfrm rot="8100000">
            <a:off x="1371600" y="5212080"/>
            <a:ext cx="4572000" cy="4572000"/>
          </a:xfrm>
          <a:prstGeom prst="rect">
            <a:avLst/>
          </a:prstGeom>
          <a:ln w="9525">
            <a:solidFill>
              <a:srgbClr val="3A3F46"/>
            </a:solidFill>
            <a:prstDash val="solid"/>
          </a:ln>
        </p:spPr>
      </p:sp>
      <p:sp>
        <p:nvSpPr>
          <p:cNvPr id="7" name="!!Mid"/>
          <p:cNvSpPr/>
          <p:nvPr/>
        </p:nvSpPr>
        <p:spPr>
          <a:xfrm rot="8100000">
            <a:off x="10332720" y="4572000"/>
            <a:ext cx="2926080" cy="2926080"/>
          </a:xfrm>
          <a:prstGeom prst="rect">
            <a:avLst/>
          </a:prstGeom>
          <a:solidFill>
            <a:srgbClr val="202328">
              <a:alpha val="80000"/>
            </a:srgbClr>
          </a:solidFill>
          <a:ln/>
        </p:spPr>
      </p:sp>
      <p:sp>
        <p:nvSpPr>
          <p:cNvPr id="8" name="!!Line_1"/>
          <p:cNvSpPr/>
          <p:nvPr/>
        </p:nvSpPr>
        <p:spPr>
          <a:xfrm>
            <a:off x="-301752" y="3606394"/>
            <a:ext cx="12801600" cy="10973"/>
          </a:xfrm>
          <a:prstGeom prst="rect">
            <a:avLst/>
          </a:prstGeom>
          <a:solidFill>
            <a:srgbClr val="4A4F57"/>
          </a:solidFill>
          <a:ln/>
        </p:spPr>
      </p:sp>
      <p:sp>
        <p:nvSpPr>
          <p:cNvPr id="9" name="!!Line_2"/>
          <p:cNvSpPr/>
          <p:nvPr/>
        </p:nvSpPr>
        <p:spPr>
          <a:xfrm rot="8100000">
            <a:off x="8961120" y="6029554"/>
            <a:ext cx="5486400" cy="10973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0" name="!!Line_3"/>
          <p:cNvSpPr/>
          <p:nvPr/>
        </p:nvSpPr>
        <p:spPr>
          <a:xfrm rot="10800000">
            <a:off x="-1920240" y="6578194"/>
            <a:ext cx="4572000" cy="10973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1" name="!!Node1"/>
          <p:cNvSpPr/>
          <p:nvPr/>
        </p:nvSpPr>
        <p:spPr>
          <a:xfrm rot="8100000">
            <a:off x="8129016" y="81381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2" name="!!Node2"/>
          <p:cNvSpPr/>
          <p:nvPr/>
        </p:nvSpPr>
        <p:spPr>
          <a:xfrm rot="8100000">
            <a:off x="8860536" y="81381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3" name="!!Node3"/>
          <p:cNvSpPr/>
          <p:nvPr/>
        </p:nvSpPr>
        <p:spPr>
          <a:xfrm rot="8100000">
            <a:off x="9592056" y="81381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4" name="!!Node4"/>
          <p:cNvSpPr/>
          <p:nvPr/>
        </p:nvSpPr>
        <p:spPr>
          <a:xfrm rot="8100000">
            <a:off x="10323576" y="81381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5" name="!!Node5"/>
          <p:cNvSpPr/>
          <p:nvPr/>
        </p:nvSpPr>
        <p:spPr>
          <a:xfrm rot="8100000">
            <a:off x="11055096" y="81381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6" name="!!Box4"/>
          <p:cNvSpPr/>
          <p:nvPr/>
        </p:nvSpPr>
        <p:spPr>
          <a:xfrm>
            <a:off x="9235440" y="2926080"/>
            <a:ext cx="2331720" cy="137160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101600" tIns="177800" rIns="177800" bIns="1016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every step, live</a:t>
            </a:r>
            <a:endParaRPr lang="en-US" sz="1500" dirty="0"/>
          </a:p>
        </p:txBody>
      </p:sp>
      <p:sp>
        <p:nvSpPr>
          <p:cNvPr id="17" name="!!Box1"/>
          <p:cNvSpPr/>
          <p:nvPr/>
        </p:nvSpPr>
        <p:spPr>
          <a:xfrm>
            <a:off x="731520" y="2926080"/>
            <a:ext cx="2331720" cy="137160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101600" tIns="177800" rIns="177800" bIns="1016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vitals</a:t>
            </a:r>
            <a:endParaRPr lang="en-US" sz="1500" dirty="0"/>
          </a:p>
        </p:txBody>
      </p:sp>
      <p:sp>
        <p:nvSpPr>
          <p:cNvPr id="18" name="!!Box2"/>
          <p:cNvSpPr/>
          <p:nvPr/>
        </p:nvSpPr>
        <p:spPr>
          <a:xfrm>
            <a:off x="3566160" y="2926080"/>
            <a:ext cx="2331720" cy="137160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101600" tIns="177800" rIns="177800" bIns="1016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triages + ranks hospitals</a:t>
            </a:r>
            <a:endParaRPr lang="en-US" sz="1500" dirty="0"/>
          </a:p>
        </p:txBody>
      </p:sp>
      <p:sp>
        <p:nvSpPr>
          <p:cNvPr id="19" name="!!Box3"/>
          <p:cNvSpPr/>
          <p:nvPr/>
        </p:nvSpPr>
        <p:spPr>
          <a:xfrm>
            <a:off x="6400800" y="2926080"/>
            <a:ext cx="2331720" cy="137160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101600" tIns="177800" rIns="177800" bIns="1016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must click ACCEPT</a:t>
            </a:r>
            <a:endParaRPr lang="en-US" sz="1500" dirty="0"/>
          </a:p>
        </p:txBody>
      </p:sp>
      <p:sp>
        <p:nvSpPr>
          <p:cNvPr id="20" name="!!Conn1"/>
          <p:cNvSpPr txBox="1"/>
          <p:nvPr/>
        </p:nvSpPr>
        <p:spPr>
          <a:xfrm>
            <a:off x="3063240" y="3383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!!Conn2"/>
          <p:cNvSpPr txBox="1"/>
          <p:nvPr/>
        </p:nvSpPr>
        <p:spPr>
          <a:xfrm>
            <a:off x="5897880" y="3383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!!Conn3"/>
          <p:cNvSpPr txBox="1"/>
          <p:nvPr/>
        </p:nvSpPr>
        <p:spPr>
          <a:xfrm>
            <a:off x="8732520" y="3383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23" name="!!Bar1"/>
          <p:cNvSpPr/>
          <p:nvPr/>
        </p:nvSpPr>
        <p:spPr>
          <a:xfrm>
            <a:off x="13533120" y="1572768"/>
            <a:ext cx="2011680" cy="146304"/>
          </a:xfrm>
          <a:prstGeom prst="rect">
            <a:avLst/>
          </a:prstGeom>
          <a:solidFill>
            <a:srgbClr val="19C3AE"/>
          </a:solidFill>
          <a:ln/>
        </p:spPr>
      </p:sp>
      <p:sp>
        <p:nvSpPr>
          <p:cNvPr id="24" name="!!Bar2"/>
          <p:cNvSpPr/>
          <p:nvPr/>
        </p:nvSpPr>
        <p:spPr>
          <a:xfrm>
            <a:off x="13533120" y="2176272"/>
            <a:ext cx="100584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5" name="!!Bar3"/>
          <p:cNvSpPr/>
          <p:nvPr/>
        </p:nvSpPr>
        <p:spPr>
          <a:xfrm>
            <a:off x="13533120" y="2779776"/>
            <a:ext cx="100584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6" name="!!Bar4"/>
          <p:cNvSpPr/>
          <p:nvPr/>
        </p:nvSpPr>
        <p:spPr>
          <a:xfrm>
            <a:off x="13533120" y="3383280"/>
            <a:ext cx="50292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7" name="!!Bar5"/>
          <p:cNvSpPr/>
          <p:nvPr/>
        </p:nvSpPr>
        <p:spPr>
          <a:xfrm>
            <a:off x="13533120" y="3986784"/>
            <a:ext cx="50292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8" name="!!Signal"/>
          <p:cNvSpPr/>
          <p:nvPr/>
        </p:nvSpPr>
        <p:spPr>
          <a:xfrm rot="8100000">
            <a:off x="594360" y="2788920"/>
            <a:ext cx="274320" cy="274320"/>
          </a:xfrm>
          <a:prstGeom prst="rect">
            <a:avLst/>
          </a:prstGeom>
          <a:solidFill>
            <a:srgbClr val="19C3AE"/>
          </a:solidFill>
          <a:ln/>
        </p:spPr>
      </p:sp>
      <p:sp>
        <p:nvSpPr>
          <p:cNvPr id="29" name="!!Wordmark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BEDLINK</a:t>
            </a:r>
            <a:endParaRPr lang="en-US" sz="1100" dirty="0"/>
          </a:p>
        </p:txBody>
      </p:sp>
      <p:sp>
        <p:nvSpPr>
          <p:cNvPr id="30" name="!!PageNum"/>
          <p:cNvSpPr txBox="1"/>
          <p:nvPr/>
        </p:nvSpPr>
        <p:spPr>
          <a:xfrm>
            <a:off x="9966960" y="365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04</a:t>
            </a:r>
            <a:endParaRPr lang="en-US" sz="1100" dirty="0"/>
          </a:p>
        </p:txBody>
      </p:sp>
      <p:sp>
        <p:nvSpPr>
          <p:cNvPr id="31" name="!!Kicker"/>
          <p:cNvSpPr txBox="1"/>
          <p:nvPr/>
        </p:nvSpPr>
        <p:spPr>
          <a:xfrm>
            <a:off x="73152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SOLUTION</a:t>
            </a:r>
            <a:endParaRPr lang="en-US" sz="1200" dirty="0"/>
          </a:p>
        </p:txBody>
      </p:sp>
      <p:sp>
        <p:nvSpPr>
          <p:cNvPr id="32" name="!!Title"/>
          <p:cNvSpPr txBox="1"/>
          <p:nvPr/>
        </p:nvSpPr>
        <p:spPr>
          <a:xfrm>
            <a:off x="73152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live loop.</a:t>
            </a:r>
            <a:endParaRPr lang="en-US" sz="4400" dirty="0"/>
          </a:p>
        </p:txBody>
      </p:sp>
      <p:sp>
        <p:nvSpPr>
          <p:cNvPr id="33" name="!!Body"/>
          <p:cNvSpPr txBox="1"/>
          <p:nvPr/>
        </p:nvSpPr>
        <p:spPr>
          <a:xfrm>
            <a:off x="731520" y="1783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sends vitals; the backend triages and ranks hospitals; the hospital and dispatch see it live.</a:t>
            </a:r>
            <a:endParaRPr lang="en-US" sz="1300" dirty="0"/>
          </a:p>
        </p:txBody>
      </p:sp>
      <p:sp>
        <p:nvSpPr>
          <p:cNvPr id="34" name="Rule1"/>
          <p:cNvSpPr txBox="1"/>
          <p:nvPr/>
        </p:nvSpPr>
        <p:spPr>
          <a:xfrm>
            <a:off x="731520" y="52578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9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MUST CLICK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never accepts automatically.</a:t>
            </a:r>
            <a:endParaRPr lang="en-US" sz="1000" dirty="0"/>
          </a:p>
        </p:txBody>
      </p:sp>
      <p:sp>
        <p:nvSpPr>
          <p:cNvPr id="35" name="Rule2"/>
          <p:cNvSpPr txBox="1"/>
          <p:nvPr/>
        </p:nvSpPr>
        <p:spPr>
          <a:xfrm>
            <a:off x="4434840" y="52578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9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WINDOW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decline or timeout moves it to the next-best hospital.</a:t>
            </a:r>
            <a:endParaRPr lang="en-US" sz="1000" dirty="0"/>
          </a:p>
        </p:txBody>
      </p:sp>
      <p:sp>
        <p:nvSpPr>
          <p:cNvPr id="36" name="Rule3"/>
          <p:cNvSpPr txBox="1"/>
          <p:nvPr/>
        </p:nvSpPr>
        <p:spPr>
          <a:xfrm>
            <a:off x="8138160" y="52578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9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SEES ALL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step, live on one screen.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8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rge"/>
          <p:cNvSpPr/>
          <p:nvPr/>
        </p:nvSpPr>
        <p:spPr>
          <a:xfrm rot="13500000">
            <a:off x="-731520" y="-228600"/>
            <a:ext cx="7315200" cy="7315200"/>
          </a:xfrm>
          <a:prstGeom prst="rect">
            <a:avLst/>
          </a:prstGeom>
          <a:solidFill>
            <a:srgbClr val="15171A"/>
          </a:solidFill>
          <a:ln w="9525">
            <a:solidFill>
              <a:srgbClr val="25282D"/>
            </a:solidFill>
            <a:prstDash val="solid"/>
          </a:ln>
        </p:spPr>
      </p:sp>
      <p:sp>
        <p:nvSpPr>
          <p:cNvPr id="3" name="!!PanelA"/>
          <p:cNvSpPr/>
          <p:nvPr/>
        </p:nvSpPr>
        <p:spPr>
          <a:xfrm>
            <a:off x="-484632" y="4572000"/>
            <a:ext cx="13167360" cy="2743200"/>
          </a:xfrm>
          <a:prstGeom prst="rect">
            <a:avLst/>
          </a:prstGeom>
          <a:solidFill>
            <a:srgbClr val="121417"/>
          </a:solidFill>
          <a:ln w="9525">
            <a:solidFill>
              <a:srgbClr val="22252A"/>
            </a:solidFill>
            <a:prstDash val="solid"/>
          </a:ln>
        </p:spPr>
      </p:sp>
      <p:sp>
        <p:nvSpPr>
          <p:cNvPr id="4" name="!!PanelB"/>
          <p:cNvSpPr/>
          <p:nvPr/>
        </p:nvSpPr>
        <p:spPr>
          <a:xfrm rot="360000">
            <a:off x="-1371600" y="-457200"/>
            <a:ext cx="6400800" cy="1463040"/>
          </a:xfrm>
          <a:prstGeom prst="rect">
            <a:avLst/>
          </a:prstGeom>
          <a:solidFill>
            <a:srgbClr val="1C1F23">
              <a:alpha val="60000"/>
            </a:srgbClr>
          </a:solidFill>
          <a:ln/>
        </p:spPr>
      </p:sp>
      <p:sp>
        <p:nvSpPr>
          <p:cNvPr id="5" name="!!PanelC"/>
          <p:cNvSpPr/>
          <p:nvPr/>
        </p:nvSpPr>
        <p:spPr>
          <a:xfrm rot="180000">
            <a:off x="5760720" y="548640"/>
            <a:ext cx="6035040" cy="4114800"/>
          </a:xfrm>
          <a:prstGeom prst="rect">
            <a:avLst/>
          </a:prstGeom>
          <a:ln w="9525">
            <a:solidFill>
              <a:srgbClr val="2E3238"/>
            </a:solidFill>
            <a:prstDash val="solid"/>
          </a:ln>
        </p:spPr>
      </p:sp>
      <p:sp>
        <p:nvSpPr>
          <p:cNvPr id="6" name="!!Outline"/>
          <p:cNvSpPr/>
          <p:nvPr/>
        </p:nvSpPr>
        <p:spPr>
          <a:xfrm rot="13500000">
            <a:off x="10424160" y="4754880"/>
            <a:ext cx="3291840" cy="3291840"/>
          </a:xfrm>
          <a:prstGeom prst="rect">
            <a:avLst/>
          </a:prstGeom>
          <a:ln w="9525">
            <a:solidFill>
              <a:srgbClr val="3A3F46"/>
            </a:solidFill>
            <a:prstDash val="solid"/>
          </a:ln>
        </p:spPr>
      </p:sp>
      <p:sp>
        <p:nvSpPr>
          <p:cNvPr id="7" name="!!Mid"/>
          <p:cNvSpPr/>
          <p:nvPr/>
        </p:nvSpPr>
        <p:spPr>
          <a:xfrm rot="13500000">
            <a:off x="10149840" y="3931920"/>
            <a:ext cx="2377440" cy="2377440"/>
          </a:xfrm>
          <a:prstGeom prst="rect">
            <a:avLst/>
          </a:prstGeom>
          <a:solidFill>
            <a:srgbClr val="202328">
              <a:alpha val="80000"/>
            </a:srgbClr>
          </a:solidFill>
          <a:ln/>
        </p:spPr>
      </p:sp>
      <p:sp>
        <p:nvSpPr>
          <p:cNvPr id="8" name="!!Line_1"/>
          <p:cNvSpPr/>
          <p:nvPr/>
        </p:nvSpPr>
        <p:spPr>
          <a:xfrm rot="5400000">
            <a:off x="3474720" y="2463394"/>
            <a:ext cx="4389120" cy="10973"/>
          </a:xfrm>
          <a:prstGeom prst="rect">
            <a:avLst/>
          </a:prstGeom>
          <a:solidFill>
            <a:srgbClr val="4A4F57"/>
          </a:solidFill>
          <a:ln/>
        </p:spPr>
      </p:sp>
      <p:sp>
        <p:nvSpPr>
          <p:cNvPr id="9" name="!!Line_2"/>
          <p:cNvSpPr/>
          <p:nvPr/>
        </p:nvSpPr>
        <p:spPr>
          <a:xfrm rot="13500000">
            <a:off x="8686800" y="5115154"/>
            <a:ext cx="4572000" cy="10973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0" name="!!Line_3"/>
          <p:cNvSpPr/>
          <p:nvPr/>
        </p:nvSpPr>
        <p:spPr>
          <a:xfrm rot="13500000">
            <a:off x="9052560" y="360274"/>
            <a:ext cx="4572000" cy="10973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1" name="!!Node1"/>
          <p:cNvSpPr/>
          <p:nvPr/>
        </p:nvSpPr>
        <p:spPr>
          <a:xfrm rot="13500000">
            <a:off x="5568696" y="108813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2" name="!!Node2"/>
          <p:cNvSpPr/>
          <p:nvPr/>
        </p:nvSpPr>
        <p:spPr>
          <a:xfrm rot="13500000">
            <a:off x="5568696" y="186537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3" name="!!Node3"/>
          <p:cNvSpPr/>
          <p:nvPr/>
        </p:nvSpPr>
        <p:spPr>
          <a:xfrm rot="13500000">
            <a:off x="5568696" y="264261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4" name="!!Node4"/>
          <p:cNvSpPr/>
          <p:nvPr/>
        </p:nvSpPr>
        <p:spPr>
          <a:xfrm rot="13500000">
            <a:off x="5568696" y="341985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5" name="!!Node5"/>
          <p:cNvSpPr/>
          <p:nvPr/>
        </p:nvSpPr>
        <p:spPr>
          <a:xfrm rot="13500000">
            <a:off x="5568696" y="4197096"/>
            <a:ext cx="201168" cy="201168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6" name="!!Box4"/>
          <p:cNvSpPr/>
          <p:nvPr/>
        </p:nvSpPr>
        <p:spPr>
          <a:xfrm>
            <a:off x="6035040" y="731520"/>
            <a:ext cx="5486400" cy="3749040"/>
          </a:xfrm>
          <a:prstGeom prst="rect">
            <a:avLst/>
          </a:prstGeom>
          <a:solidFill>
            <a:srgbClr val="1C1F24"/>
          </a:solidFill>
          <a:ln w="9525">
            <a:solidFill>
              <a:srgbClr val="3A3F46"/>
            </a:solidFill>
          </a:ln>
        </p:spPr>
        <p:txBody>
          <a:bodyPr wrap="square" lIns="101600" tIns="177800" rIns="177800" bIns="1016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17" name="!!Box1"/>
          <p:cNvSpPr/>
          <p:nvPr/>
        </p:nvSpPr>
        <p:spPr>
          <a:xfrm>
            <a:off x="731520" y="4983480"/>
            <a:ext cx="2514600" cy="123444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101600" tIns="177800" rIns="177800" bIns="10160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DISTANCE</a:t>
            </a:r>
            <a:endParaRPr lang="en-US" sz="11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hospitals on resources, beds, freshness and load, not ETA alone</a:t>
            </a:r>
            <a:endParaRPr lang="en-US" sz="1300" dirty="0"/>
          </a:p>
        </p:txBody>
      </p:sp>
      <p:sp>
        <p:nvSpPr>
          <p:cNvPr id="18" name="!!Box2"/>
          <p:cNvSpPr/>
          <p:nvPr/>
        </p:nvSpPr>
        <p:spPr>
          <a:xfrm>
            <a:off x="3474720" y="4983480"/>
            <a:ext cx="2514600" cy="123444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101600" tIns="177800" rIns="177800" bIns="10160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FIRST</a:t>
            </a:r>
            <a:endParaRPr lang="en-US" sz="11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accepts or declines within 2 minutes, else next-best</a:t>
            </a:r>
            <a:endParaRPr lang="en-US" sz="1300" dirty="0"/>
          </a:p>
        </p:txBody>
      </p:sp>
      <p:sp>
        <p:nvSpPr>
          <p:cNvPr id="19" name="!!Box3"/>
          <p:cNvSpPr/>
          <p:nvPr/>
        </p:nvSpPr>
        <p:spPr>
          <a:xfrm>
            <a:off x="6217920" y="4983480"/>
            <a:ext cx="2514600" cy="123444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101600" tIns="177800" rIns="177800" bIns="10160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PICTURE</a:t>
            </a:r>
            <a:endParaRPr lang="en-US" sz="11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Ambulance, hospital and dispatch share one state over SSE</a:t>
            </a:r>
            <a:endParaRPr lang="en-US" sz="1300" dirty="0"/>
          </a:p>
        </p:txBody>
      </p:sp>
      <p:sp>
        <p:nvSpPr>
          <p:cNvPr id="45" name="DiffBox4"/>
          <p:cNvSpPr/>
          <p:nvPr/>
        </p:nvSpPr>
        <p:spPr>
          <a:xfrm>
            <a:off x="8961120" y="4983480"/>
            <a:ext cx="2514600" cy="123444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101600" tIns="177800" rIns="177800" bIns="10160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TRIAGE</a:t>
            </a:r>
            <a:endParaRPr lang="en-US" sz="11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rule-based score; pure Python, zero installs</a:t>
            </a:r>
            <a:endParaRPr lang="en-US" sz="1300" dirty="0"/>
          </a:p>
        </p:txBody>
      </p:sp>
      <p:sp>
        <p:nvSpPr>
          <p:cNvPr id="46" name="DiffHeader"/>
          <p:cNvSpPr txBox="1"/>
          <p:nvPr/>
        </p:nvSpPr>
        <p:spPr>
          <a:xfrm>
            <a:off x="73152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US DIFFERENT</a:t>
            </a:r>
            <a:endParaRPr lang="en-US" sz="1000" dirty="0"/>
          </a:p>
        </p:txBody>
      </p:sp>
      <p:sp>
        <p:nvSpPr>
          <p:cNvPr id="20" name="!!Conn1"/>
          <p:cNvSpPr txBox="1"/>
          <p:nvPr/>
        </p:nvSpPr>
        <p:spPr>
          <a:xfrm>
            <a:off x="3063240" y="7452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!!Conn2"/>
          <p:cNvSpPr txBox="1"/>
          <p:nvPr/>
        </p:nvSpPr>
        <p:spPr>
          <a:xfrm>
            <a:off x="5897880" y="7452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!!Conn3"/>
          <p:cNvSpPr txBox="1"/>
          <p:nvPr/>
        </p:nvSpPr>
        <p:spPr>
          <a:xfrm>
            <a:off x="8732520" y="7452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23" name="!!Bar1"/>
          <p:cNvSpPr/>
          <p:nvPr/>
        </p:nvSpPr>
        <p:spPr>
          <a:xfrm>
            <a:off x="8549640" y="1572768"/>
            <a:ext cx="2011680" cy="146304"/>
          </a:xfrm>
          <a:prstGeom prst="rect">
            <a:avLst/>
          </a:prstGeom>
          <a:solidFill>
            <a:srgbClr val="19C3AE"/>
          </a:solidFill>
          <a:ln/>
        </p:spPr>
      </p:sp>
      <p:sp>
        <p:nvSpPr>
          <p:cNvPr id="24" name="!!Bar2"/>
          <p:cNvSpPr/>
          <p:nvPr/>
        </p:nvSpPr>
        <p:spPr>
          <a:xfrm>
            <a:off x="8549640" y="2176272"/>
            <a:ext cx="100584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5" name="!!Bar3"/>
          <p:cNvSpPr/>
          <p:nvPr/>
        </p:nvSpPr>
        <p:spPr>
          <a:xfrm>
            <a:off x="8549640" y="2779776"/>
            <a:ext cx="100584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6" name="!!Bar4"/>
          <p:cNvSpPr/>
          <p:nvPr/>
        </p:nvSpPr>
        <p:spPr>
          <a:xfrm>
            <a:off x="8549640" y="3383280"/>
            <a:ext cx="50292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7" name="!!Bar5"/>
          <p:cNvSpPr/>
          <p:nvPr/>
        </p:nvSpPr>
        <p:spPr>
          <a:xfrm>
            <a:off x="8549640" y="3986784"/>
            <a:ext cx="50292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8" name="!!Signal"/>
          <p:cNvSpPr/>
          <p:nvPr/>
        </p:nvSpPr>
        <p:spPr>
          <a:xfrm rot="13500000">
            <a:off x="5897880" y="594360"/>
            <a:ext cx="274320" cy="274320"/>
          </a:xfrm>
          <a:prstGeom prst="rect">
            <a:avLst/>
          </a:prstGeom>
          <a:solidFill>
            <a:srgbClr val="19C3AE"/>
          </a:solidFill>
          <a:ln/>
        </p:spPr>
      </p:sp>
      <p:sp>
        <p:nvSpPr>
          <p:cNvPr id="29" name="!!Wordmark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BEDLINK</a:t>
            </a:r>
            <a:endParaRPr lang="en-US" sz="1100" dirty="0"/>
          </a:p>
        </p:txBody>
      </p:sp>
      <p:sp>
        <p:nvSpPr>
          <p:cNvPr id="30" name="!!PageNum"/>
          <p:cNvSpPr txBox="1"/>
          <p:nvPr/>
        </p:nvSpPr>
        <p:spPr>
          <a:xfrm>
            <a:off x="9966960" y="365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04</a:t>
            </a:r>
            <a:endParaRPr lang="en-US" sz="1100" dirty="0"/>
          </a:p>
        </p:txBody>
      </p:sp>
      <p:sp>
        <p:nvSpPr>
          <p:cNvPr id="31" name="!!Kicker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FEATURES + EDGE</a:t>
            </a:r>
            <a:endParaRPr lang="en-US" sz="1200" dirty="0"/>
          </a:p>
        </p:txBody>
      </p:sp>
      <p:sp>
        <p:nvSpPr>
          <p:cNvPr id="32" name="!!Title"/>
          <p:cNvSpPr txBox="1"/>
          <p:nvPr/>
        </p:nvSpPr>
        <p:spPr>
          <a:xfrm>
            <a:off x="731520" y="1325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4000" dirty="0"/>
          </a:p>
        </p:txBody>
      </p:sp>
      <p:sp>
        <p:nvSpPr>
          <p:cNvPr id="33" name="!!Body"/>
          <p:cNvSpPr txBox="1"/>
          <p:nvPr/>
        </p:nvSpPr>
        <p:spPr>
          <a:xfrm>
            <a:off x="731520" y="219456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500"/>
              </a:spcAft>
              <a:buClr>
                <a:srgbClr val="19C3AE"/>
              </a:buClr>
              <a:buSzPct val="70000"/>
              <a:buFont typeface="Arial"/>
              <a:buChar char="■"/>
            </a:pPr>
            <a:r>
              <a:rPr lang="en-US" sz="13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vitals + triage</a:t>
            </a: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vital trends and a 0–100 score</a:t>
            </a:r>
            <a:endParaRPr lang="en-US" sz="1300" dirty="0"/>
          </a:p>
          <a:p>
            <a:pPr marL="228600" indent="-228600" algn="l">
              <a:spcAft>
                <a:spcPts val="1500"/>
              </a:spcAft>
              <a:buClr>
                <a:srgbClr val="19C3AE"/>
              </a:buClr>
              <a:buSzPct val="70000"/>
              <a:buFont typeface="Arial"/>
              <a:buChar char="■"/>
            </a:pPr>
            <a:r>
              <a:rPr lang="en-US" sz="13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ops assistant</a:t>
            </a: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symptoms map to needed resources</a:t>
            </a:r>
            <a:endParaRPr lang="en-US" sz="1300" dirty="0"/>
          </a:p>
          <a:p>
            <a:pPr marL="228600" indent="-228600" algn="l">
              <a:spcAft>
                <a:spcPts val="1500"/>
              </a:spcAft>
              <a:buClr>
                <a:srgbClr val="19C3AE"/>
              </a:buClr>
              <a:buSzPct val="70000"/>
              <a:buFont typeface="Arial"/>
              <a:buChar char="■"/>
            </a:pPr>
            <a:r>
              <a:rPr lang="en-US" sz="13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console</a:t>
            </a: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beds, supplies, staff and data-freshness flags</a:t>
            </a:r>
            <a:endParaRPr lang="en-US" sz="1300" dirty="0"/>
          </a:p>
          <a:p>
            <a:pPr marL="228600" indent="-228600" algn="l">
              <a:spcAft>
                <a:spcPts val="1500"/>
              </a:spcAft>
              <a:buClr>
                <a:srgbClr val="19C3AE"/>
              </a:buClr>
              <a:buSzPct val="70000"/>
              <a:buFont typeface="Arial"/>
              <a:buChar char="■"/>
            </a:pPr>
            <a:r>
              <a:rPr lang="en-US" sz="13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command center</a:t>
            </a: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live map and event feed</a:t>
            </a:r>
            <a:endParaRPr lang="en-US" sz="1300" dirty="0"/>
          </a:p>
          <a:p>
            <a:pPr marL="228600" indent="-228600" algn="l">
              <a:spcAft>
                <a:spcPts val="1500"/>
              </a:spcAft>
              <a:buClr>
                <a:srgbClr val="19C3AE"/>
              </a:buClr>
              <a:buSzPct val="70000"/>
              <a:buFont typeface="Arial"/>
              <a:buChar char="■"/>
            </a:pPr>
            <a:r>
              <a:rPr lang="en-US" sz="13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</a:t>
            </a: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click runs a road-accident case end to end</a:t>
            </a:r>
            <a:endParaRPr lang="en-US" sz="1300" dirty="0"/>
          </a:p>
        </p:txBody>
      </p:sp>
      <p:sp>
        <p:nvSpPr>
          <p:cNvPr id="34" name="WeightsHeader"/>
          <p:cNvSpPr txBox="1"/>
          <p:nvPr/>
        </p:nvSpPr>
        <p:spPr>
          <a:xfrm>
            <a:off x="6309360" y="914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MATCH · EXPLAINABLE SCORE OUT OF 100</a:t>
            </a:r>
            <a:endParaRPr lang="en-US" sz="1000" dirty="0"/>
          </a:p>
        </p:txBody>
      </p:sp>
      <p:sp>
        <p:nvSpPr>
          <p:cNvPr id="35" name="RowLabel1"/>
          <p:cNvSpPr txBox="1"/>
          <p:nvPr/>
        </p:nvSpPr>
        <p:spPr>
          <a:xfrm>
            <a:off x="630936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compatibility</a:t>
            </a:r>
            <a:endParaRPr lang="en-US" sz="1400" dirty="0"/>
          </a:p>
        </p:txBody>
      </p:sp>
      <p:sp>
        <p:nvSpPr>
          <p:cNvPr id="36" name="RowValue1"/>
          <p:cNvSpPr txBox="1"/>
          <p:nvPr/>
        </p:nvSpPr>
        <p:spPr>
          <a:xfrm>
            <a:off x="10744200" y="14630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600" dirty="0"/>
          </a:p>
        </p:txBody>
      </p:sp>
      <p:sp>
        <p:nvSpPr>
          <p:cNvPr id="37" name="RowLabel2"/>
          <p:cNvSpPr txBox="1"/>
          <p:nvPr/>
        </p:nvSpPr>
        <p:spPr>
          <a:xfrm>
            <a:off x="6309360" y="20665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availability</a:t>
            </a:r>
            <a:endParaRPr lang="en-US" sz="1400" dirty="0"/>
          </a:p>
        </p:txBody>
      </p:sp>
      <p:sp>
        <p:nvSpPr>
          <p:cNvPr id="38" name="RowValue2"/>
          <p:cNvSpPr txBox="1"/>
          <p:nvPr/>
        </p:nvSpPr>
        <p:spPr>
          <a:xfrm>
            <a:off x="10744200" y="206654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00" dirty="0"/>
          </a:p>
        </p:txBody>
      </p:sp>
      <p:sp>
        <p:nvSpPr>
          <p:cNvPr id="39" name="RowLabel3"/>
          <p:cNvSpPr txBox="1"/>
          <p:nvPr/>
        </p:nvSpPr>
        <p:spPr>
          <a:xfrm>
            <a:off x="6309360" y="2670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efficiency</a:t>
            </a:r>
            <a:endParaRPr lang="en-US" sz="1400" dirty="0"/>
          </a:p>
        </p:txBody>
      </p:sp>
      <p:sp>
        <p:nvSpPr>
          <p:cNvPr id="40" name="RowValue3"/>
          <p:cNvSpPr txBox="1"/>
          <p:nvPr/>
        </p:nvSpPr>
        <p:spPr>
          <a:xfrm>
            <a:off x="10744200" y="26700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00" dirty="0"/>
          </a:p>
        </p:txBody>
      </p:sp>
      <p:sp>
        <p:nvSpPr>
          <p:cNvPr id="41" name="RowLabel4"/>
          <p:cNvSpPr txBox="1"/>
          <p:nvPr/>
        </p:nvSpPr>
        <p:spPr>
          <a:xfrm>
            <a:off x="6309360" y="3273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</a:t>
            </a:r>
            <a:endParaRPr lang="en-US" sz="1400" dirty="0"/>
          </a:p>
        </p:txBody>
      </p:sp>
      <p:sp>
        <p:nvSpPr>
          <p:cNvPr id="42" name="RowValue4"/>
          <p:cNvSpPr txBox="1"/>
          <p:nvPr/>
        </p:nvSpPr>
        <p:spPr>
          <a:xfrm>
            <a:off x="10744200" y="327355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3" name="RowLabel5"/>
          <p:cNvSpPr txBox="1"/>
          <p:nvPr/>
        </p:nvSpPr>
        <p:spPr>
          <a:xfrm>
            <a:off x="6309360" y="38770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load</a:t>
            </a:r>
            <a:endParaRPr lang="en-US" sz="1400" dirty="0"/>
          </a:p>
        </p:txBody>
      </p:sp>
      <p:sp>
        <p:nvSpPr>
          <p:cNvPr id="44" name="RowValue5"/>
          <p:cNvSpPr txBox="1"/>
          <p:nvPr/>
        </p:nvSpPr>
        <p:spPr>
          <a:xfrm>
            <a:off x="10744200" y="387705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8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rge"/>
          <p:cNvSpPr/>
          <p:nvPr/>
        </p:nvSpPr>
        <p:spPr>
          <a:xfrm rot="18900000">
            <a:off x="7543800" y="-914400"/>
            <a:ext cx="8686800" cy="8686800"/>
          </a:xfrm>
          <a:prstGeom prst="rect">
            <a:avLst/>
          </a:prstGeom>
          <a:solidFill>
            <a:srgbClr val="15171A"/>
          </a:solidFill>
          <a:ln w="9525">
            <a:solidFill>
              <a:srgbClr val="25282D"/>
            </a:solidFill>
            <a:prstDash val="solid"/>
          </a:ln>
        </p:spPr>
      </p:sp>
      <p:sp>
        <p:nvSpPr>
          <p:cNvPr id="3" name="!!PanelA"/>
          <p:cNvSpPr/>
          <p:nvPr/>
        </p:nvSpPr>
        <p:spPr>
          <a:xfrm>
            <a:off x="-484632" y="4983480"/>
            <a:ext cx="13167360" cy="2377440"/>
          </a:xfrm>
          <a:prstGeom prst="rect">
            <a:avLst/>
          </a:prstGeom>
          <a:solidFill>
            <a:srgbClr val="121417"/>
          </a:solidFill>
          <a:ln w="9525">
            <a:solidFill>
              <a:srgbClr val="22252A"/>
            </a:solidFill>
            <a:prstDash val="solid"/>
          </a:ln>
        </p:spPr>
      </p:sp>
      <p:sp>
        <p:nvSpPr>
          <p:cNvPr id="4" name="!!PanelB"/>
          <p:cNvSpPr/>
          <p:nvPr/>
        </p:nvSpPr>
        <p:spPr>
          <a:xfrm rot="720000">
            <a:off x="7772400" y="0"/>
            <a:ext cx="5486400" cy="2194560"/>
          </a:xfrm>
          <a:prstGeom prst="rect">
            <a:avLst/>
          </a:prstGeom>
          <a:solidFill>
            <a:srgbClr val="1C1F23">
              <a:alpha val="60000"/>
            </a:srgbClr>
          </a:solidFill>
          <a:ln/>
        </p:spPr>
      </p:sp>
      <p:sp>
        <p:nvSpPr>
          <p:cNvPr id="5" name="!!PanelC"/>
          <p:cNvSpPr/>
          <p:nvPr/>
        </p:nvSpPr>
        <p:spPr>
          <a:xfrm>
            <a:off x="-210312" y="5166360"/>
            <a:ext cx="12618720" cy="2011680"/>
          </a:xfrm>
          <a:prstGeom prst="rect">
            <a:avLst/>
          </a:prstGeom>
          <a:ln w="9525">
            <a:solidFill>
              <a:srgbClr val="2E3238"/>
            </a:solidFill>
            <a:prstDash val="solid"/>
          </a:ln>
        </p:spPr>
      </p:sp>
      <p:sp>
        <p:nvSpPr>
          <p:cNvPr id="6" name="!!Outline"/>
          <p:cNvSpPr/>
          <p:nvPr/>
        </p:nvSpPr>
        <p:spPr>
          <a:xfrm rot="18900000">
            <a:off x="9784080" y="182880"/>
            <a:ext cx="2926080" cy="2926080"/>
          </a:xfrm>
          <a:prstGeom prst="rect">
            <a:avLst/>
          </a:prstGeom>
          <a:ln w="9525">
            <a:solidFill>
              <a:srgbClr val="3A3F46"/>
            </a:solidFill>
            <a:prstDash val="solid"/>
          </a:ln>
        </p:spPr>
      </p:sp>
      <p:sp>
        <p:nvSpPr>
          <p:cNvPr id="7" name="!!Mid"/>
          <p:cNvSpPr/>
          <p:nvPr/>
        </p:nvSpPr>
        <p:spPr>
          <a:xfrm rot="18900000">
            <a:off x="10881360" y="3383280"/>
            <a:ext cx="2743200" cy="2743200"/>
          </a:xfrm>
          <a:prstGeom prst="rect">
            <a:avLst/>
          </a:prstGeom>
          <a:solidFill>
            <a:srgbClr val="202328">
              <a:alpha val="80000"/>
            </a:srgbClr>
          </a:solidFill>
          <a:ln/>
        </p:spPr>
      </p:sp>
      <p:sp>
        <p:nvSpPr>
          <p:cNvPr id="8" name="!!Line_1"/>
          <p:cNvSpPr/>
          <p:nvPr/>
        </p:nvSpPr>
        <p:spPr>
          <a:xfrm>
            <a:off x="731520" y="5709514"/>
            <a:ext cx="10789920" cy="10973"/>
          </a:xfrm>
          <a:prstGeom prst="rect">
            <a:avLst/>
          </a:prstGeom>
          <a:solidFill>
            <a:srgbClr val="4A4F57"/>
          </a:solidFill>
          <a:ln/>
        </p:spPr>
      </p:sp>
      <p:sp>
        <p:nvSpPr>
          <p:cNvPr id="9" name="!!Line_2"/>
          <p:cNvSpPr/>
          <p:nvPr/>
        </p:nvSpPr>
        <p:spPr>
          <a:xfrm rot="18900000">
            <a:off x="8915400" y="1640434"/>
            <a:ext cx="4114800" cy="10973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0" name="!!Line_3"/>
          <p:cNvSpPr/>
          <p:nvPr/>
        </p:nvSpPr>
        <p:spPr>
          <a:xfrm rot="16200000">
            <a:off x="9144000" y="3652114"/>
            <a:ext cx="5486400" cy="10973"/>
          </a:xfrm>
          <a:prstGeom prst="rect">
            <a:avLst/>
          </a:prstGeom>
          <a:solidFill>
            <a:srgbClr val="3A3F46"/>
          </a:solidFill>
          <a:ln/>
        </p:spPr>
      </p:sp>
      <p:sp>
        <p:nvSpPr>
          <p:cNvPr id="11" name="!!Node1"/>
          <p:cNvSpPr/>
          <p:nvPr/>
        </p:nvSpPr>
        <p:spPr>
          <a:xfrm rot="18900000">
            <a:off x="1252728" y="5596128"/>
            <a:ext cx="237744" cy="23774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2" name="!!Node2"/>
          <p:cNvSpPr/>
          <p:nvPr/>
        </p:nvSpPr>
        <p:spPr>
          <a:xfrm rot="18900000">
            <a:off x="3447288" y="5596128"/>
            <a:ext cx="237744" cy="23774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3" name="!!Node3"/>
          <p:cNvSpPr/>
          <p:nvPr/>
        </p:nvSpPr>
        <p:spPr>
          <a:xfrm rot="18900000">
            <a:off x="5641848" y="5596128"/>
            <a:ext cx="237744" cy="23774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4" name="!!Node4"/>
          <p:cNvSpPr/>
          <p:nvPr/>
        </p:nvSpPr>
        <p:spPr>
          <a:xfrm rot="18900000">
            <a:off x="7836408" y="5596128"/>
            <a:ext cx="237744" cy="23774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5" name="!!Node5"/>
          <p:cNvSpPr/>
          <p:nvPr/>
        </p:nvSpPr>
        <p:spPr>
          <a:xfrm rot="18900000">
            <a:off x="10030968" y="5596128"/>
            <a:ext cx="237744" cy="23774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16" name="!!Box4"/>
          <p:cNvSpPr/>
          <p:nvPr/>
        </p:nvSpPr>
        <p:spPr>
          <a:xfrm>
            <a:off x="13167360" y="685800"/>
            <a:ext cx="2194560" cy="5486400"/>
          </a:xfrm>
          <a:prstGeom prst="rect">
            <a:avLst/>
          </a:prstGeom>
          <a:solidFill>
            <a:srgbClr val="1C1F24"/>
          </a:solidFill>
          <a:ln w="9525">
            <a:solidFill>
              <a:srgbClr val="3A3F46"/>
            </a:solidFill>
          </a:ln>
        </p:spPr>
        <p:txBody>
          <a:bodyPr wrap="square" lIns="101600" tIns="177800" rIns="177800" bIns="1016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17" name="!!Box1"/>
          <p:cNvSpPr/>
          <p:nvPr/>
        </p:nvSpPr>
        <p:spPr>
          <a:xfrm>
            <a:off x="731520" y="3268980"/>
            <a:ext cx="3337560" cy="150876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101600" tIns="177800" rIns="177800" bIns="1016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kern="0" spc="200" dirty="0">
                <a:solidFill>
                  <a:srgbClr val="19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re-routes</a:t>
            </a:r>
            <a:endParaRPr lang="en-US" sz="11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bed before the ambulance commits.</a:t>
            </a:r>
            <a:endParaRPr lang="en-US" sz="1100" dirty="0"/>
          </a:p>
        </p:txBody>
      </p:sp>
      <p:sp>
        <p:nvSpPr>
          <p:cNvPr id="18" name="!!Box2"/>
          <p:cNvSpPr/>
          <p:nvPr/>
        </p:nvSpPr>
        <p:spPr>
          <a:xfrm>
            <a:off x="4434840" y="3268980"/>
            <a:ext cx="3337560" cy="150876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101600" tIns="177800" rIns="177800" bIns="1016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kern="0" spc="200" dirty="0">
                <a:solidFill>
                  <a:srgbClr val="19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saved per case</a:t>
            </a:r>
            <a:endParaRPr lang="en-US" sz="11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phone calls, no guesswork, important details </a:t>
            </a:r>
            <a:r>
              <a:rPr lang="en-US" sz="120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relayed</a:t>
            </a:r>
            <a:endParaRPr lang="en-US" sz="1100" dirty="0"/>
          </a:p>
        </p:txBody>
      </p:sp>
      <p:sp>
        <p:nvSpPr>
          <p:cNvPr id="19" name="!!Box3"/>
          <p:cNvSpPr/>
          <p:nvPr/>
        </p:nvSpPr>
        <p:spPr>
          <a:xfrm>
            <a:off x="8138160" y="3268980"/>
            <a:ext cx="3337560" cy="1508760"/>
          </a:xfrm>
          <a:prstGeom prst="rect">
            <a:avLst/>
          </a:prstGeom>
          <a:solidFill>
            <a:srgbClr val="1F2327"/>
          </a:solidFill>
          <a:ln w="9525">
            <a:solidFill>
              <a:srgbClr val="3A3F46"/>
            </a:solidFill>
          </a:ln>
        </p:spPr>
        <p:txBody>
          <a:bodyPr wrap="square" lIns="101600" tIns="177800" rIns="177800" bIns="1016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kern="0" spc="200" dirty="0">
                <a:solidFill>
                  <a:srgbClr val="19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picture</a:t>
            </a:r>
            <a:endParaRPr lang="en-US" sz="11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finally sees every step.</a:t>
            </a:r>
            <a:endParaRPr lang="en-US" sz="1100" dirty="0"/>
          </a:p>
        </p:txBody>
      </p:sp>
      <p:sp>
        <p:nvSpPr>
          <p:cNvPr id="20" name="!!Conn1"/>
          <p:cNvSpPr txBox="1"/>
          <p:nvPr/>
        </p:nvSpPr>
        <p:spPr>
          <a:xfrm>
            <a:off x="3063240" y="7452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!!Conn2"/>
          <p:cNvSpPr txBox="1"/>
          <p:nvPr/>
        </p:nvSpPr>
        <p:spPr>
          <a:xfrm>
            <a:off x="5897880" y="7452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!!Conn3"/>
          <p:cNvSpPr txBox="1"/>
          <p:nvPr/>
        </p:nvSpPr>
        <p:spPr>
          <a:xfrm>
            <a:off x="8732520" y="7452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23" name="!!Bar1"/>
          <p:cNvSpPr/>
          <p:nvPr/>
        </p:nvSpPr>
        <p:spPr>
          <a:xfrm>
            <a:off x="8549640" y="7973568"/>
            <a:ext cx="2011680" cy="146304"/>
          </a:xfrm>
          <a:prstGeom prst="rect">
            <a:avLst/>
          </a:prstGeom>
          <a:solidFill>
            <a:srgbClr val="19C3AE"/>
          </a:solidFill>
          <a:ln/>
        </p:spPr>
      </p:sp>
      <p:sp>
        <p:nvSpPr>
          <p:cNvPr id="24" name="!!Bar2"/>
          <p:cNvSpPr/>
          <p:nvPr/>
        </p:nvSpPr>
        <p:spPr>
          <a:xfrm>
            <a:off x="8549640" y="8577072"/>
            <a:ext cx="100584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5" name="!!Bar3"/>
          <p:cNvSpPr/>
          <p:nvPr/>
        </p:nvSpPr>
        <p:spPr>
          <a:xfrm>
            <a:off x="8549640" y="9180576"/>
            <a:ext cx="100584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6" name="!!Bar4"/>
          <p:cNvSpPr/>
          <p:nvPr/>
        </p:nvSpPr>
        <p:spPr>
          <a:xfrm>
            <a:off x="8549640" y="9784080"/>
            <a:ext cx="50292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7" name="!!Bar5"/>
          <p:cNvSpPr/>
          <p:nvPr/>
        </p:nvSpPr>
        <p:spPr>
          <a:xfrm>
            <a:off x="8549640" y="10387584"/>
            <a:ext cx="502920" cy="146304"/>
          </a:xfrm>
          <a:prstGeom prst="rect">
            <a:avLst/>
          </a:prstGeom>
          <a:solidFill>
            <a:srgbClr val="C9CDD2"/>
          </a:solidFill>
          <a:ln/>
        </p:spPr>
      </p:sp>
      <p:sp>
        <p:nvSpPr>
          <p:cNvPr id="28" name="!!Signal"/>
          <p:cNvSpPr/>
          <p:nvPr/>
        </p:nvSpPr>
        <p:spPr>
          <a:xfrm rot="18900000">
            <a:off x="594360" y="5577840"/>
            <a:ext cx="274320" cy="274320"/>
          </a:xfrm>
          <a:prstGeom prst="rect">
            <a:avLst/>
          </a:prstGeom>
          <a:solidFill>
            <a:srgbClr val="19C3AE"/>
          </a:solidFill>
          <a:ln/>
        </p:spPr>
      </p:sp>
      <p:sp>
        <p:nvSpPr>
          <p:cNvPr id="29" name="!!Wordmark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BEDLINK</a:t>
            </a:r>
            <a:endParaRPr lang="en-US" sz="1100" dirty="0"/>
          </a:p>
        </p:txBody>
      </p:sp>
      <p:sp>
        <p:nvSpPr>
          <p:cNvPr id="30" name="!!PageNum"/>
          <p:cNvSpPr txBox="1"/>
          <p:nvPr/>
        </p:nvSpPr>
        <p:spPr>
          <a:xfrm>
            <a:off x="9966960" y="365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04</a:t>
            </a:r>
            <a:endParaRPr lang="en-US" sz="1100" dirty="0"/>
          </a:p>
        </p:txBody>
      </p:sp>
      <p:sp>
        <p:nvSpPr>
          <p:cNvPr id="31" name="!!Kicker"/>
          <p:cNvSpPr txBox="1"/>
          <p:nvPr/>
        </p:nvSpPr>
        <p:spPr>
          <a:xfrm>
            <a:off x="73152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IMPACT</a:t>
            </a:r>
            <a:endParaRPr lang="en-US" sz="1200" dirty="0"/>
          </a:p>
        </p:txBody>
      </p:sp>
      <p:sp>
        <p:nvSpPr>
          <p:cNvPr id="32" name="!!Title"/>
          <p:cNvSpPr txBox="1"/>
          <p:nvPr/>
        </p:nvSpPr>
        <p:spPr>
          <a:xfrm>
            <a:off x="731520" y="123444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BedLink doesn't just show where the beds are. It makes sure someone has said yes before the ambulance arrives.</a:t>
            </a:r>
            <a:endParaRPr lang="en-US" sz="2800" dirty="0"/>
          </a:p>
        </p:txBody>
      </p:sp>
      <p:sp>
        <p:nvSpPr>
          <p:cNvPr id="33" name="!!Body"/>
          <p:cNvSpPr txBox="1"/>
          <p:nvPr/>
        </p:nvSpPr>
        <p:spPr>
          <a:xfrm>
            <a:off x="73152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000" dirty="0"/>
          </a:p>
        </p:txBody>
      </p:sp>
      <p:sp>
        <p:nvSpPr>
          <p:cNvPr id="34" name="RoadmapLabel"/>
          <p:cNvSpPr txBox="1"/>
          <p:nvPr/>
        </p:nvSpPr>
        <p:spPr>
          <a:xfrm>
            <a:off x="73152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35" name="RoadmapItem1"/>
          <p:cNvSpPr txBox="1"/>
          <p:nvPr/>
        </p:nvSpPr>
        <p:spPr>
          <a:xfrm>
            <a:off x="1261872" y="5897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GPS</a:t>
            </a:r>
            <a:endParaRPr lang="en-US" sz="1200" dirty="0"/>
          </a:p>
        </p:txBody>
      </p:sp>
      <p:sp>
        <p:nvSpPr>
          <p:cNvPr id="36" name="RoadmapItem2"/>
          <p:cNvSpPr txBox="1"/>
          <p:nvPr/>
        </p:nvSpPr>
        <p:spPr>
          <a:xfrm>
            <a:off x="3456432" y="5897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system integration</a:t>
            </a:r>
            <a:endParaRPr lang="en-US" sz="1200" dirty="0"/>
          </a:p>
        </p:txBody>
      </p:sp>
      <p:sp>
        <p:nvSpPr>
          <p:cNvPr id="37" name="RoadmapItem3"/>
          <p:cNvSpPr txBox="1"/>
          <p:nvPr/>
        </p:nvSpPr>
        <p:spPr>
          <a:xfrm>
            <a:off x="5650992" y="5897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8" name="RoadmapItem4"/>
          <p:cNvSpPr txBox="1"/>
          <p:nvPr/>
        </p:nvSpPr>
        <p:spPr>
          <a:xfrm>
            <a:off x="7845552" y="5897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39" name="RoadmapItem5"/>
          <p:cNvSpPr txBox="1"/>
          <p:nvPr/>
        </p:nvSpPr>
        <p:spPr>
          <a:xfrm>
            <a:off x="10040112" y="5897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8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edLink Morph">
  <a:themeElements>
    <a:clrScheme name="BedLink Morph">
      <a:dk1>
        <a:srgbClr val="0D0E10"/>
      </a:dk1>
      <a:lt1>
        <a:srgbClr val="F4F5F6"/>
      </a:lt1>
      <a:dk2>
        <a:srgbClr val="1F2327"/>
      </a:dk2>
      <a:lt2>
        <a:srgbClr val="9AA0A8"/>
      </a:lt2>
      <a:accent1>
        <a:srgbClr val="19C3AE"/>
      </a:accent1>
      <a:accent2>
        <a:srgbClr val="C9CDD2"/>
      </a:accent2>
      <a:accent3>
        <a:srgbClr val="3A3F46"/>
      </a:accent3>
      <a:accent4>
        <a:srgbClr val="D98A00"/>
      </a:accent4>
      <a:accent5>
        <a:srgbClr val="D92D3A"/>
      </a:accent5>
      <a:accent6>
        <a:srgbClr val="13498F"/>
      </a:accent6>
      <a:hlink>
        <a:srgbClr val="19C3AE"/>
      </a:hlink>
      <a:folHlink>
        <a:srgbClr val="9AA0A8"/>
      </a:folHlink>
    </a:clrScheme>
    <a:fontScheme name="BedLink Morp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669</Words>
  <Application>Microsoft Office PowerPoint</Application>
  <PresentationFormat>Widescreen</PresentationFormat>
  <Paragraphs>95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BedLink Morph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BedLink — Morph Deck</dc:title>
  <dc:subject>PptxGenJS Presentation</dc:subject>
  <dc:creator>PptxGenJS</dc:creator>
  <cp:lastModifiedBy>Anil Bhardwaj</cp:lastModifiedBy>
  <cp:revision>1</cp:revision>
  <dcterms:created xsi:type="dcterms:W3CDTF">2026-10-02T18:49:25Z</dcterms:created>
  <dcterms:modified xsi:type="dcterms:W3CDTF">2026-10-03T04:08:16Z</dcterms:modified>
</cp:coreProperties>
</file>